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6858000" cy="9144000"/>
  <p:embeddedFontLst>
    <p:embeddedFont>
      <p:font typeface="DM Sans" pitchFamily="2" charset="0"/>
      <p:regular r:id="rId5"/>
    </p:embeddedFont>
    <p:embeddedFont>
      <p:font typeface="DM Sans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206" y="1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2DB48-137F-4527-8CC0-085056B0E2F4}" type="datetimeFigureOut">
              <a:rPr lang="de-AT" smtClean="0"/>
              <a:t>30.04.2026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BF635-0B70-4317-B9DD-97322B3C92A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91067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BF635-0B70-4317-B9DD-97322B3C92A3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14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svg"/><Relationship Id="rId12" Type="http://schemas.openxmlformats.org/officeDocument/2006/relationships/image" Target="../media/image8.sv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11" Type="http://schemas.openxmlformats.org/officeDocument/2006/relationships/image" Target="../media/image7.svg"/><Relationship Id="rId5" Type="http://schemas.openxmlformats.org/officeDocument/2006/relationships/image" Target="../media/image1.svg"/><Relationship Id="rId15" Type="http://schemas.openxmlformats.org/officeDocument/2006/relationships/image" Target="../media/image11.png"/><Relationship Id="rId10" Type="http://schemas.openxmlformats.org/officeDocument/2006/relationships/image" Target="../media/image6.sv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svg"/><Relationship Id="rId1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10" Type="http://schemas.openxmlformats.org/officeDocument/2006/relationships/image" Target="../media/image10.pn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00011" y="8136624"/>
            <a:ext cx="2050502" cy="2562902"/>
            <a:chOff x="0" y="0"/>
            <a:chExt cx="761297" cy="9515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1297" cy="951537"/>
            </a:xfrm>
            <a:custGeom>
              <a:avLst/>
              <a:gdLst/>
              <a:ahLst/>
              <a:cxnLst/>
              <a:rect l="l" t="t" r="r" b="b"/>
              <a:pathLst>
                <a:path w="761297" h="951537">
                  <a:moveTo>
                    <a:pt x="0" y="0"/>
                  </a:moveTo>
                  <a:lnTo>
                    <a:pt x="761297" y="0"/>
                  </a:lnTo>
                  <a:lnTo>
                    <a:pt x="761297" y="951537"/>
                  </a:lnTo>
                  <a:lnTo>
                    <a:pt x="0" y="951537"/>
                  </a:lnTo>
                  <a:close/>
                </a:path>
              </a:pathLst>
            </a:custGeom>
            <a:solidFill>
              <a:srgbClr val="506D95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61297" cy="989637"/>
            </a:xfrm>
            <a:prstGeom prst="rect">
              <a:avLst/>
            </a:prstGeom>
          </p:spPr>
          <p:txBody>
            <a:bodyPr lIns="36037" tIns="36037" rIns="36037" bIns="3603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3465" y="8136624"/>
            <a:ext cx="2050502" cy="2562902"/>
            <a:chOff x="0" y="0"/>
            <a:chExt cx="761297" cy="9515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1297" cy="951537"/>
            </a:xfrm>
            <a:custGeom>
              <a:avLst/>
              <a:gdLst/>
              <a:ahLst/>
              <a:cxnLst/>
              <a:rect l="l" t="t" r="r" b="b"/>
              <a:pathLst>
                <a:path w="761297" h="951537">
                  <a:moveTo>
                    <a:pt x="0" y="0"/>
                  </a:moveTo>
                  <a:lnTo>
                    <a:pt x="761297" y="0"/>
                  </a:lnTo>
                  <a:lnTo>
                    <a:pt x="761297" y="951537"/>
                  </a:lnTo>
                  <a:lnTo>
                    <a:pt x="0" y="951537"/>
                  </a:lnTo>
                  <a:close/>
                </a:path>
              </a:pathLst>
            </a:custGeom>
            <a:solidFill>
              <a:srgbClr val="02B7CC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1297" cy="989637"/>
            </a:xfrm>
            <a:prstGeom prst="rect">
              <a:avLst/>
            </a:prstGeom>
          </p:spPr>
          <p:txBody>
            <a:bodyPr lIns="36037" tIns="36037" rIns="36037" bIns="3603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999165" y="8135336"/>
            <a:ext cx="2050502" cy="2564190"/>
            <a:chOff x="0" y="0"/>
            <a:chExt cx="761297" cy="9520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1297" cy="952015"/>
            </a:xfrm>
            <a:custGeom>
              <a:avLst/>
              <a:gdLst/>
              <a:ahLst/>
              <a:cxnLst/>
              <a:rect l="l" t="t" r="r" b="b"/>
              <a:pathLst>
                <a:path w="761297" h="952015">
                  <a:moveTo>
                    <a:pt x="0" y="0"/>
                  </a:moveTo>
                  <a:lnTo>
                    <a:pt x="761297" y="0"/>
                  </a:lnTo>
                  <a:lnTo>
                    <a:pt x="761297" y="952015"/>
                  </a:lnTo>
                  <a:lnTo>
                    <a:pt x="0" y="952015"/>
                  </a:lnTo>
                  <a:close/>
                </a:path>
              </a:pathLst>
            </a:custGeom>
            <a:solidFill>
              <a:srgbClr val="02B7CC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61297" cy="990115"/>
            </a:xfrm>
            <a:prstGeom prst="rect">
              <a:avLst/>
            </a:prstGeom>
          </p:spPr>
          <p:txBody>
            <a:bodyPr lIns="36037" tIns="36037" rIns="36037" bIns="3603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52488" y="8135336"/>
            <a:ext cx="2050502" cy="2564190"/>
            <a:chOff x="0" y="0"/>
            <a:chExt cx="761297" cy="9520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1297" cy="952015"/>
            </a:xfrm>
            <a:custGeom>
              <a:avLst/>
              <a:gdLst/>
              <a:ahLst/>
              <a:cxnLst/>
              <a:rect l="l" t="t" r="r" b="b"/>
              <a:pathLst>
                <a:path w="761297" h="952015">
                  <a:moveTo>
                    <a:pt x="0" y="0"/>
                  </a:moveTo>
                  <a:lnTo>
                    <a:pt x="761297" y="0"/>
                  </a:lnTo>
                  <a:lnTo>
                    <a:pt x="761297" y="952015"/>
                  </a:lnTo>
                  <a:lnTo>
                    <a:pt x="0" y="952015"/>
                  </a:lnTo>
                  <a:close/>
                </a:path>
              </a:pathLst>
            </a:custGeom>
            <a:solidFill>
              <a:srgbClr val="88C8B3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1297" cy="990115"/>
            </a:xfrm>
            <a:prstGeom prst="rect">
              <a:avLst/>
            </a:prstGeom>
          </p:spPr>
          <p:txBody>
            <a:bodyPr lIns="36037" tIns="36037" rIns="36037" bIns="3603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305812" y="8898908"/>
            <a:ext cx="2050502" cy="1800618"/>
            <a:chOff x="0" y="0"/>
            <a:chExt cx="761297" cy="6685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1297" cy="668521"/>
            </a:xfrm>
            <a:custGeom>
              <a:avLst/>
              <a:gdLst/>
              <a:ahLst/>
              <a:cxnLst/>
              <a:rect l="l" t="t" r="r" b="b"/>
              <a:pathLst>
                <a:path w="761297" h="668521">
                  <a:moveTo>
                    <a:pt x="0" y="0"/>
                  </a:moveTo>
                  <a:lnTo>
                    <a:pt x="761297" y="0"/>
                  </a:lnTo>
                  <a:lnTo>
                    <a:pt x="761297" y="668521"/>
                  </a:lnTo>
                  <a:lnTo>
                    <a:pt x="0" y="668521"/>
                  </a:lnTo>
                  <a:close/>
                </a:path>
              </a:pathLst>
            </a:custGeom>
            <a:solidFill>
              <a:srgbClr val="64E7BE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61297" cy="706621"/>
            </a:xfrm>
            <a:prstGeom prst="rect">
              <a:avLst/>
            </a:prstGeom>
          </p:spPr>
          <p:txBody>
            <a:bodyPr lIns="36037" tIns="36037" rIns="36037" bIns="3603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7700011" y="2269799"/>
            <a:ext cx="3123382" cy="6716951"/>
          </a:xfrm>
          <a:custGeom>
            <a:avLst/>
            <a:gdLst/>
            <a:ahLst/>
            <a:cxnLst/>
            <a:rect l="l" t="t" r="r" b="b"/>
            <a:pathLst>
              <a:path w="3123382" h="6716951">
                <a:moveTo>
                  <a:pt x="0" y="0"/>
                </a:moveTo>
                <a:lnTo>
                  <a:pt x="3123382" y="0"/>
                </a:lnTo>
                <a:lnTo>
                  <a:pt x="3123382" y="6716951"/>
                </a:lnTo>
                <a:lnTo>
                  <a:pt x="0" y="67169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18" name="Group 18"/>
          <p:cNvGrpSpPr/>
          <p:nvPr/>
        </p:nvGrpSpPr>
        <p:grpSpPr>
          <a:xfrm>
            <a:off x="8459012" y="8898908"/>
            <a:ext cx="2364381" cy="1800618"/>
            <a:chOff x="0" y="0"/>
            <a:chExt cx="877831" cy="66852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7831" cy="668521"/>
            </a:xfrm>
            <a:custGeom>
              <a:avLst/>
              <a:gdLst/>
              <a:ahLst/>
              <a:cxnLst/>
              <a:rect l="l" t="t" r="r" b="b"/>
              <a:pathLst>
                <a:path w="877831" h="668521">
                  <a:moveTo>
                    <a:pt x="0" y="0"/>
                  </a:moveTo>
                  <a:lnTo>
                    <a:pt x="877831" y="0"/>
                  </a:lnTo>
                  <a:lnTo>
                    <a:pt x="877831" y="668521"/>
                  </a:lnTo>
                  <a:lnTo>
                    <a:pt x="0" y="668521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77831" cy="706621"/>
            </a:xfrm>
            <a:prstGeom prst="rect">
              <a:avLst/>
            </a:prstGeom>
          </p:spPr>
          <p:txBody>
            <a:bodyPr lIns="36037" tIns="36037" rIns="36037" bIns="3603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196009" y="2834584"/>
            <a:ext cx="1344580" cy="134458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96CE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298395" y="4628770"/>
            <a:ext cx="301407" cy="263731"/>
            <a:chOff x="0" y="0"/>
            <a:chExt cx="812800" cy="711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A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12022" y="5431883"/>
            <a:ext cx="301407" cy="263731"/>
            <a:chOff x="0" y="0"/>
            <a:chExt cx="812800" cy="711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C6D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536520" y="7254349"/>
            <a:ext cx="301407" cy="263731"/>
            <a:chOff x="0" y="0"/>
            <a:chExt cx="812800" cy="711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D7A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48117" y="5419973"/>
            <a:ext cx="1344580" cy="134458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6DD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784047" y="8008290"/>
            <a:ext cx="1344580" cy="1344580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FACD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722639" y="4075393"/>
            <a:ext cx="1344580" cy="1344580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96847" y="6764553"/>
            <a:ext cx="1344580" cy="1344580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F7DE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2222608" y="2719703"/>
            <a:ext cx="2804938" cy="923080"/>
          </a:xfrm>
          <a:custGeom>
            <a:avLst/>
            <a:gdLst/>
            <a:ahLst/>
            <a:cxnLst/>
            <a:rect l="l" t="t" r="r" b="b"/>
            <a:pathLst>
              <a:path w="2804938" h="923080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46" name="Freeform 46"/>
          <p:cNvSpPr/>
          <p:nvPr/>
        </p:nvSpPr>
        <p:spPr>
          <a:xfrm>
            <a:off x="2413108" y="5768545"/>
            <a:ext cx="2804938" cy="923080"/>
          </a:xfrm>
          <a:custGeom>
            <a:avLst/>
            <a:gdLst/>
            <a:ahLst/>
            <a:cxnLst/>
            <a:rect l="l" t="t" r="r" b="b"/>
            <a:pathLst>
              <a:path w="2804938" h="923080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47" name="Freeform 47"/>
          <p:cNvSpPr/>
          <p:nvPr/>
        </p:nvSpPr>
        <p:spPr>
          <a:xfrm>
            <a:off x="13355704" y="7587916"/>
            <a:ext cx="2804938" cy="923080"/>
          </a:xfrm>
          <a:custGeom>
            <a:avLst/>
            <a:gdLst/>
            <a:ahLst/>
            <a:cxnLst/>
            <a:rect l="l" t="t" r="r" b="b"/>
            <a:pathLst>
              <a:path w="2804938" h="923080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48" name="Freeform 48"/>
          <p:cNvSpPr/>
          <p:nvPr/>
        </p:nvSpPr>
        <p:spPr>
          <a:xfrm>
            <a:off x="13155216" y="3730854"/>
            <a:ext cx="2804938" cy="923080"/>
          </a:xfrm>
          <a:custGeom>
            <a:avLst/>
            <a:gdLst/>
            <a:ahLst/>
            <a:cxnLst/>
            <a:rect l="l" t="t" r="r" b="b"/>
            <a:pathLst>
              <a:path w="2804938" h="923080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49" name="Group 49"/>
          <p:cNvGrpSpPr/>
          <p:nvPr/>
        </p:nvGrpSpPr>
        <p:grpSpPr>
          <a:xfrm>
            <a:off x="2094380" y="1785892"/>
            <a:ext cx="3061394" cy="2733191"/>
            <a:chOff x="0" y="0"/>
            <a:chExt cx="806293" cy="71985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06293" cy="719853"/>
            </a:xfrm>
            <a:custGeom>
              <a:avLst/>
              <a:gdLst/>
              <a:ahLst/>
              <a:cxnLst/>
              <a:rect l="l" t="t" r="r" b="b"/>
              <a:pathLst>
                <a:path w="806293" h="719853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681919"/>
                  </a:lnTo>
                  <a:cubicBezTo>
                    <a:pt x="806293" y="702869"/>
                    <a:pt x="789310" y="719853"/>
                    <a:pt x="768360" y="719853"/>
                  </a:cubicBezTo>
                  <a:lnTo>
                    <a:pt x="37933" y="719853"/>
                  </a:lnTo>
                  <a:cubicBezTo>
                    <a:pt x="16983" y="719853"/>
                    <a:pt x="0" y="702869"/>
                    <a:pt x="0" y="681919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806293" cy="767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2" name="AutoShape 52"/>
          <p:cNvSpPr/>
          <p:nvPr/>
        </p:nvSpPr>
        <p:spPr>
          <a:xfrm>
            <a:off x="6149987" y="2996610"/>
            <a:ext cx="950771" cy="510265"/>
          </a:xfrm>
          <a:prstGeom prst="line">
            <a:avLst/>
          </a:prstGeom>
          <a:ln w="38100" cap="flat">
            <a:solidFill>
              <a:srgbClr val="6D96CE"/>
            </a:solidFill>
            <a:prstDash val="sysDot"/>
            <a:headEnd type="arrow" w="med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53" name="Group 53"/>
          <p:cNvGrpSpPr/>
          <p:nvPr/>
        </p:nvGrpSpPr>
        <p:grpSpPr>
          <a:xfrm>
            <a:off x="13026988" y="2695246"/>
            <a:ext cx="3061394" cy="3534839"/>
            <a:chOff x="0" y="0"/>
            <a:chExt cx="806293" cy="93098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06293" cy="930986"/>
            </a:xfrm>
            <a:custGeom>
              <a:avLst/>
              <a:gdLst/>
              <a:ahLst/>
              <a:cxnLst/>
              <a:rect l="l" t="t" r="r" b="b"/>
              <a:pathLst>
                <a:path w="806293" h="930986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893053"/>
                  </a:lnTo>
                  <a:cubicBezTo>
                    <a:pt x="806293" y="914003"/>
                    <a:pt x="789310" y="930986"/>
                    <a:pt x="768360" y="930986"/>
                  </a:cubicBezTo>
                  <a:lnTo>
                    <a:pt x="37933" y="930986"/>
                  </a:lnTo>
                  <a:cubicBezTo>
                    <a:pt x="16983" y="930986"/>
                    <a:pt x="0" y="914003"/>
                    <a:pt x="0" y="893053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806293" cy="978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284880" y="4747683"/>
            <a:ext cx="3061394" cy="3027670"/>
            <a:chOff x="0" y="0"/>
            <a:chExt cx="806293" cy="797411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06293" cy="797411"/>
            </a:xfrm>
            <a:custGeom>
              <a:avLst/>
              <a:gdLst/>
              <a:ahLst/>
              <a:cxnLst/>
              <a:rect l="l" t="t" r="r" b="b"/>
              <a:pathLst>
                <a:path w="806293" h="797411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759478"/>
                  </a:lnTo>
                  <a:cubicBezTo>
                    <a:pt x="806293" y="780428"/>
                    <a:pt x="789310" y="797411"/>
                    <a:pt x="768360" y="797411"/>
                  </a:cubicBezTo>
                  <a:lnTo>
                    <a:pt x="37933" y="797411"/>
                  </a:lnTo>
                  <a:cubicBezTo>
                    <a:pt x="16983" y="797411"/>
                    <a:pt x="0" y="780428"/>
                    <a:pt x="0" y="759478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806293" cy="845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9" name="AutoShape 59"/>
          <p:cNvSpPr/>
          <p:nvPr/>
        </p:nvSpPr>
        <p:spPr>
          <a:xfrm>
            <a:off x="6340487" y="5622188"/>
            <a:ext cx="950771" cy="510265"/>
          </a:xfrm>
          <a:prstGeom prst="line">
            <a:avLst/>
          </a:prstGeom>
          <a:ln w="38100" cap="flat">
            <a:solidFill>
              <a:srgbClr val="00C6DD"/>
            </a:solidFill>
            <a:prstDash val="sysDot"/>
            <a:headEnd type="arrow" w="med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60" name="Group 60"/>
          <p:cNvGrpSpPr/>
          <p:nvPr/>
        </p:nvGrpSpPr>
        <p:grpSpPr>
          <a:xfrm>
            <a:off x="13227476" y="6570149"/>
            <a:ext cx="3061394" cy="3214108"/>
            <a:chOff x="0" y="0"/>
            <a:chExt cx="806293" cy="84651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06293" cy="846514"/>
            </a:xfrm>
            <a:custGeom>
              <a:avLst/>
              <a:gdLst/>
              <a:ahLst/>
              <a:cxnLst/>
              <a:rect l="l" t="t" r="r" b="b"/>
              <a:pathLst>
                <a:path w="806293" h="846514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808581"/>
                  </a:lnTo>
                  <a:cubicBezTo>
                    <a:pt x="806293" y="829531"/>
                    <a:pt x="789310" y="846514"/>
                    <a:pt x="768360" y="846514"/>
                  </a:cubicBezTo>
                  <a:lnTo>
                    <a:pt x="37933" y="846514"/>
                  </a:lnTo>
                  <a:cubicBezTo>
                    <a:pt x="16983" y="846514"/>
                    <a:pt x="0" y="829531"/>
                    <a:pt x="0" y="80858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806293" cy="894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3" name="AutoShape 63"/>
          <p:cNvSpPr/>
          <p:nvPr/>
        </p:nvSpPr>
        <p:spPr>
          <a:xfrm flipV="1">
            <a:off x="11341427" y="6972240"/>
            <a:ext cx="916254" cy="464603"/>
          </a:xfrm>
          <a:prstGeom prst="line">
            <a:avLst/>
          </a:prstGeom>
          <a:ln w="38100" cap="flat">
            <a:solidFill>
              <a:srgbClr val="5CD7AF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de-AT"/>
          </a:p>
        </p:txBody>
      </p:sp>
      <p:sp>
        <p:nvSpPr>
          <p:cNvPr id="64" name="AutoShape 64"/>
          <p:cNvSpPr/>
          <p:nvPr/>
        </p:nvSpPr>
        <p:spPr>
          <a:xfrm flipV="1">
            <a:off x="11067219" y="4295820"/>
            <a:ext cx="916254" cy="451863"/>
          </a:xfrm>
          <a:prstGeom prst="line">
            <a:avLst/>
          </a:prstGeom>
          <a:ln w="38100" cap="flat">
            <a:solidFill>
              <a:srgbClr val="004AAD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de-AT"/>
          </a:p>
        </p:txBody>
      </p:sp>
      <p:sp>
        <p:nvSpPr>
          <p:cNvPr id="65" name="Freeform 65"/>
          <p:cNvSpPr/>
          <p:nvPr/>
        </p:nvSpPr>
        <p:spPr>
          <a:xfrm>
            <a:off x="2603608" y="8861177"/>
            <a:ext cx="2804938" cy="923080"/>
          </a:xfrm>
          <a:custGeom>
            <a:avLst/>
            <a:gdLst/>
            <a:ahLst/>
            <a:cxnLst/>
            <a:rect l="l" t="t" r="r" b="b"/>
            <a:pathLst>
              <a:path w="2804938" h="923080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66" name="Group 66"/>
          <p:cNvGrpSpPr/>
          <p:nvPr/>
        </p:nvGrpSpPr>
        <p:grpSpPr>
          <a:xfrm>
            <a:off x="2437149" y="8423396"/>
            <a:ext cx="3061394" cy="1669807"/>
            <a:chOff x="0" y="0"/>
            <a:chExt cx="806293" cy="43978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06293" cy="439785"/>
            </a:xfrm>
            <a:custGeom>
              <a:avLst/>
              <a:gdLst/>
              <a:ahLst/>
              <a:cxnLst/>
              <a:rect l="l" t="t" r="r" b="b"/>
              <a:pathLst>
                <a:path w="806293" h="439785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01851"/>
                  </a:lnTo>
                  <a:cubicBezTo>
                    <a:pt x="806293" y="422801"/>
                    <a:pt x="789310" y="439785"/>
                    <a:pt x="768360" y="439785"/>
                  </a:cubicBezTo>
                  <a:lnTo>
                    <a:pt x="37933" y="439785"/>
                  </a:lnTo>
                  <a:cubicBezTo>
                    <a:pt x="16983" y="439785"/>
                    <a:pt x="0" y="422801"/>
                    <a:pt x="0" y="40185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806293" cy="487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9" name="AutoShape 69"/>
          <p:cNvSpPr/>
          <p:nvPr/>
        </p:nvSpPr>
        <p:spPr>
          <a:xfrm>
            <a:off x="6530987" y="8247767"/>
            <a:ext cx="950771" cy="510265"/>
          </a:xfrm>
          <a:prstGeom prst="line">
            <a:avLst/>
          </a:prstGeom>
          <a:ln w="38100" cap="flat">
            <a:solidFill>
              <a:srgbClr val="8FD0BB"/>
            </a:solidFill>
            <a:prstDash val="sysDot"/>
            <a:headEnd type="arrow" w="med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70" name="Freeform 70"/>
          <p:cNvSpPr/>
          <p:nvPr/>
        </p:nvSpPr>
        <p:spPr>
          <a:xfrm>
            <a:off x="8122962" y="8369291"/>
            <a:ext cx="666750" cy="622578"/>
          </a:xfrm>
          <a:custGeom>
            <a:avLst/>
            <a:gdLst/>
            <a:ahLst/>
            <a:cxnLst/>
            <a:rect l="l" t="t" r="r" b="b"/>
            <a:pathLst>
              <a:path w="666750" h="622578">
                <a:moveTo>
                  <a:pt x="0" y="0"/>
                </a:moveTo>
                <a:lnTo>
                  <a:pt x="666750" y="0"/>
                </a:lnTo>
                <a:lnTo>
                  <a:pt x="666750" y="622578"/>
                </a:lnTo>
                <a:lnTo>
                  <a:pt x="0" y="622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71" name="Freeform 71"/>
          <p:cNvSpPr/>
          <p:nvPr/>
        </p:nvSpPr>
        <p:spPr>
          <a:xfrm>
            <a:off x="10335762" y="7148890"/>
            <a:ext cx="666750" cy="575905"/>
          </a:xfrm>
          <a:custGeom>
            <a:avLst/>
            <a:gdLst/>
            <a:ahLst/>
            <a:cxnLst/>
            <a:rect l="l" t="t" r="r" b="b"/>
            <a:pathLst>
              <a:path w="666750" h="575905">
                <a:moveTo>
                  <a:pt x="0" y="0"/>
                </a:moveTo>
                <a:lnTo>
                  <a:pt x="666750" y="0"/>
                </a:lnTo>
                <a:lnTo>
                  <a:pt x="666750" y="575906"/>
                </a:lnTo>
                <a:lnTo>
                  <a:pt x="0" y="575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72" name="Freeform 72"/>
          <p:cNvSpPr/>
          <p:nvPr/>
        </p:nvSpPr>
        <p:spPr>
          <a:xfrm>
            <a:off x="7787033" y="5777640"/>
            <a:ext cx="666750" cy="629245"/>
          </a:xfrm>
          <a:custGeom>
            <a:avLst/>
            <a:gdLst/>
            <a:ahLst/>
            <a:cxnLst/>
            <a:rect l="l" t="t" r="r" b="b"/>
            <a:pathLst>
              <a:path w="666750" h="629245">
                <a:moveTo>
                  <a:pt x="0" y="0"/>
                </a:moveTo>
                <a:lnTo>
                  <a:pt x="666750" y="0"/>
                </a:lnTo>
                <a:lnTo>
                  <a:pt x="666750" y="629246"/>
                </a:lnTo>
                <a:lnTo>
                  <a:pt x="0" y="6292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73" name="Freeform 73"/>
          <p:cNvSpPr/>
          <p:nvPr/>
        </p:nvSpPr>
        <p:spPr>
          <a:xfrm>
            <a:off x="10013929" y="4460980"/>
            <a:ext cx="762000" cy="573405"/>
          </a:xfrm>
          <a:custGeom>
            <a:avLst/>
            <a:gdLst/>
            <a:ahLst/>
            <a:cxnLst/>
            <a:rect l="l" t="t" r="r" b="b"/>
            <a:pathLst>
              <a:path w="762000" h="573405">
                <a:moveTo>
                  <a:pt x="0" y="0"/>
                </a:moveTo>
                <a:lnTo>
                  <a:pt x="762000" y="0"/>
                </a:lnTo>
                <a:lnTo>
                  <a:pt x="762000" y="573405"/>
                </a:lnTo>
                <a:lnTo>
                  <a:pt x="0" y="573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74" name="Freeform 74"/>
          <p:cNvSpPr/>
          <p:nvPr/>
        </p:nvSpPr>
        <p:spPr>
          <a:xfrm>
            <a:off x="7640354" y="3173499"/>
            <a:ext cx="455890" cy="666750"/>
          </a:xfrm>
          <a:custGeom>
            <a:avLst/>
            <a:gdLst/>
            <a:ahLst/>
            <a:cxnLst/>
            <a:rect l="l" t="t" r="r" b="b"/>
            <a:pathLst>
              <a:path w="455890" h="666750">
                <a:moveTo>
                  <a:pt x="0" y="0"/>
                </a:moveTo>
                <a:lnTo>
                  <a:pt x="455890" y="0"/>
                </a:lnTo>
                <a:lnTo>
                  <a:pt x="45589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75" name="Group 75"/>
          <p:cNvGrpSpPr/>
          <p:nvPr/>
        </p:nvGrpSpPr>
        <p:grpSpPr>
          <a:xfrm>
            <a:off x="2002522" y="8529876"/>
            <a:ext cx="301407" cy="263731"/>
            <a:chOff x="0" y="0"/>
            <a:chExt cx="812800" cy="7112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CFAC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8" name="Freeform 78"/>
          <p:cNvSpPr/>
          <p:nvPr/>
        </p:nvSpPr>
        <p:spPr>
          <a:xfrm rot="6217509">
            <a:off x="-3144658" y="184126"/>
            <a:ext cx="7315200" cy="1481328"/>
          </a:xfrm>
          <a:custGeom>
            <a:avLst/>
            <a:gdLst/>
            <a:ahLst/>
            <a:cxnLst/>
            <a:rect l="l" t="t" r="r" b="b"/>
            <a:pathLst>
              <a:path w="7315200" h="1481328">
                <a:moveTo>
                  <a:pt x="0" y="0"/>
                </a:moveTo>
                <a:lnTo>
                  <a:pt x="7315200" y="0"/>
                </a:lnTo>
                <a:lnTo>
                  <a:pt x="7315200" y="1481328"/>
                </a:lnTo>
                <a:lnTo>
                  <a:pt x="0" y="14813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79" name="Freeform 79"/>
          <p:cNvSpPr/>
          <p:nvPr/>
        </p:nvSpPr>
        <p:spPr>
          <a:xfrm rot="-4784753">
            <a:off x="11582248" y="10170309"/>
            <a:ext cx="11144977" cy="2256858"/>
          </a:xfrm>
          <a:custGeom>
            <a:avLst/>
            <a:gdLst/>
            <a:ahLst/>
            <a:cxnLst/>
            <a:rect l="l" t="t" r="r" b="b"/>
            <a:pathLst>
              <a:path w="11144977" h="2256858">
                <a:moveTo>
                  <a:pt x="0" y="0"/>
                </a:moveTo>
                <a:lnTo>
                  <a:pt x="11144977" y="0"/>
                </a:lnTo>
                <a:lnTo>
                  <a:pt x="11144977" y="2256858"/>
                </a:lnTo>
                <a:lnTo>
                  <a:pt x="0" y="2256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80" name="Freeform 80"/>
          <p:cNvSpPr/>
          <p:nvPr/>
        </p:nvSpPr>
        <p:spPr>
          <a:xfrm>
            <a:off x="4867187" y="433666"/>
            <a:ext cx="5229143" cy="2006684"/>
          </a:xfrm>
          <a:custGeom>
            <a:avLst/>
            <a:gdLst/>
            <a:ahLst/>
            <a:cxnLst/>
            <a:rect l="l" t="t" r="r" b="b"/>
            <a:pathLst>
              <a:path w="5229143" h="2006684">
                <a:moveTo>
                  <a:pt x="0" y="0"/>
                </a:moveTo>
                <a:lnTo>
                  <a:pt x="5229143" y="0"/>
                </a:lnTo>
                <a:lnTo>
                  <a:pt x="5229143" y="2006684"/>
                </a:lnTo>
                <a:lnTo>
                  <a:pt x="0" y="20066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81" name="TextBox 81"/>
          <p:cNvSpPr txBox="1"/>
          <p:nvPr/>
        </p:nvSpPr>
        <p:spPr>
          <a:xfrm>
            <a:off x="4726842" y="2621325"/>
            <a:ext cx="12504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6D96CE"/>
                </a:solidFill>
                <a:latin typeface="DM Sans Bold"/>
                <a:ea typeface="DM Sans Bold"/>
                <a:cs typeface="DM Sans Bold"/>
                <a:sym typeface="DM Sans Bold"/>
              </a:rPr>
              <a:t>.05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323938" y="1907364"/>
            <a:ext cx="26022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Loyalty Stage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2323938" y="2323720"/>
            <a:ext cx="2602277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App wird Teil des Alltags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Trigger: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Push Notifications („Your pet is hungry“)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Schritte im Alltag (automatisch getrackt)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User nutzt mehr Features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Training / Grooming / Vet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AI Chatbot (emotionale Interaktion)</a:t>
            </a:r>
          </a:p>
          <a:p>
            <a:pPr algn="l">
              <a:lnSpc>
                <a:spcPts val="1680"/>
              </a:lnSpc>
            </a:pPr>
            <a:endParaRPr lang="en-US" sz="1400">
              <a:solidFill>
                <a:srgbClr val="3D5B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12065735" y="4018243"/>
            <a:ext cx="86600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04.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3256546" y="2900674"/>
            <a:ext cx="26022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Engagement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3256546" y="3404610"/>
            <a:ext cx="2602277" cy="293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User beginnt täglich zu interagieren. 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Core Loops: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Schritte sammeln → Pet wird aktiver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Füttern → Stats steigen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Care → emotionale Bindung wächst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Gamification: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Level-Up (Beginner → Explorer)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XP durch Aktivitäten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Fortschritt sichtbar</a:t>
            </a:r>
          </a:p>
          <a:p>
            <a:pPr algn="l">
              <a:lnSpc>
                <a:spcPts val="1680"/>
              </a:lnSpc>
            </a:pPr>
            <a:endParaRPr lang="en-US" sz="1400">
              <a:solidFill>
                <a:srgbClr val="3D5B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4917342" y="5246903"/>
            <a:ext cx="12504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C6DD"/>
                </a:solidFill>
                <a:latin typeface="DM Sans Bold"/>
                <a:ea typeface="DM Sans Bold"/>
                <a:cs typeface="DM Sans Bold"/>
                <a:sym typeface="DM Sans Bold"/>
              </a:rPr>
              <a:t>.03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2514438" y="4953111"/>
            <a:ext cx="26022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Decision Stage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514438" y="5457047"/>
            <a:ext cx="2602277" cy="251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User sieht das Pet im AR-Modus im eigenen Raum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Features genutzt: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AR View (Real-World Integration)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Live Stats (Hunger, Happiness, Energy)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Emotion: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Freude („es lebt in meiner Welt“)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Überraschung / Immersion</a:t>
            </a:r>
          </a:p>
          <a:p>
            <a:pPr algn="l">
              <a:lnSpc>
                <a:spcPts val="1680"/>
              </a:lnSpc>
            </a:pPr>
            <a:endParaRPr lang="en-US" sz="1400">
              <a:solidFill>
                <a:srgbClr val="3D5B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12388796" y="6693833"/>
            <a:ext cx="625204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46C89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3457035" y="6775577"/>
            <a:ext cx="26022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Interest Stage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3457035" y="7279513"/>
            <a:ext cx="2602277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Download der App → erstes Öffnen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Erlebnis: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Auswahl / Generierung eines virtuellen Pets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Kurze Einführung: Walk · Feed · Care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Aktivierung von Kamera (AR) &amp; Schrittzähler</a:t>
            </a:r>
          </a:p>
          <a:p>
            <a:pPr algn="l">
              <a:lnSpc>
                <a:spcPts val="1680"/>
              </a:lnSpc>
            </a:pPr>
            <a:endParaRPr lang="en-US" sz="1400">
              <a:solidFill>
                <a:srgbClr val="3D5B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5631762" y="7951140"/>
            <a:ext cx="80397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8FD0BB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2666707" y="8539312"/>
            <a:ext cx="26022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Awareness Stage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666707" y="9132761"/>
            <a:ext cx="2602277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Die Nutzerin entdeckt PawlyAI über Instagram, App Store oder Empfehlung.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540589" y="1745288"/>
            <a:ext cx="5602450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3400" b="1" dirty="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CUSTOMER JOURNEY </a:t>
            </a:r>
          </a:p>
        </p:txBody>
      </p:sp>
      <p:sp>
        <p:nvSpPr>
          <p:cNvPr id="97" name="Freeform 97"/>
          <p:cNvSpPr/>
          <p:nvPr/>
        </p:nvSpPr>
        <p:spPr>
          <a:xfrm>
            <a:off x="7012613" y="0"/>
            <a:ext cx="938291" cy="924790"/>
          </a:xfrm>
          <a:custGeom>
            <a:avLst/>
            <a:gdLst/>
            <a:ahLst/>
            <a:cxnLst/>
            <a:rect l="l" t="t" r="r" b="b"/>
            <a:pathLst>
              <a:path w="938291" h="924790">
                <a:moveTo>
                  <a:pt x="0" y="0"/>
                </a:moveTo>
                <a:lnTo>
                  <a:pt x="938291" y="0"/>
                </a:lnTo>
                <a:lnTo>
                  <a:pt x="938291" y="924790"/>
                </a:lnTo>
                <a:lnTo>
                  <a:pt x="0" y="9247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18302" t="-27818" r="-119260" b="-45709"/>
            </a:stretch>
          </a:blipFill>
        </p:spPr>
        <p:txBody>
          <a:bodyPr/>
          <a:lstStyle/>
          <a:p>
            <a:endParaRPr lang="de-AT"/>
          </a:p>
        </p:txBody>
      </p:sp>
      <p:pic>
        <p:nvPicPr>
          <p:cNvPr id="99" name="PAWLY My Best Friend">
            <a:hlinkClick r:id="" action="ppaction://media"/>
            <a:extLst>
              <a:ext uri="{FF2B5EF4-FFF2-40B4-BE49-F238E27FC236}">
                <a16:creationId xmlns:a16="http://schemas.microsoft.com/office/drawing/2014/main" id="{C72D341F-FD0A-4BD6-B62C-16DEE61A45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Textmarke 1" time="0"/>
                  </p14:bmkLst>
                </p14:media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7704438" y="9745540"/>
            <a:ext cx="347663" cy="3476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26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9"/>
                </p:tgtEl>
              </p:cMediaNode>
            </p:audio>
          </p:childTnLst>
        </p:cTn>
      </p:par>
    </p:tnLst>
    <p:bldLst>
      <p:bldP spid="17" grpId="0" animBg="1"/>
      <p:bldP spid="45" grpId="0" animBg="1"/>
      <p:bldP spid="46" grpId="0" animBg="1"/>
      <p:bldP spid="47" grpId="0" animBg="1"/>
      <p:bldP spid="48" grpId="0" animBg="1"/>
      <p:bldP spid="52" grpId="0" animBg="1"/>
      <p:bldP spid="59" grpId="0" animBg="1"/>
      <p:bldP spid="63" grpId="0" animBg="1"/>
      <p:bldP spid="64" grpId="0" animBg="1"/>
      <p:bldP spid="65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80" grpId="0" animBg="1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42229" y="5190912"/>
            <a:ext cx="2804938" cy="923080"/>
          </a:xfrm>
          <a:custGeom>
            <a:avLst/>
            <a:gdLst/>
            <a:ahLst/>
            <a:cxnLst/>
            <a:rect l="l" t="t" r="r" b="b"/>
            <a:pathLst>
              <a:path w="2804938" h="923080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3" name="Freeform 3"/>
          <p:cNvSpPr/>
          <p:nvPr/>
        </p:nvSpPr>
        <p:spPr>
          <a:xfrm>
            <a:off x="12735509" y="8177754"/>
            <a:ext cx="2804938" cy="923080"/>
          </a:xfrm>
          <a:custGeom>
            <a:avLst/>
            <a:gdLst/>
            <a:ahLst/>
            <a:cxnLst/>
            <a:rect l="l" t="t" r="r" b="b"/>
            <a:pathLst>
              <a:path w="2804938" h="923080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4" name="Group 4"/>
          <p:cNvGrpSpPr/>
          <p:nvPr/>
        </p:nvGrpSpPr>
        <p:grpSpPr>
          <a:xfrm>
            <a:off x="-390988" y="-767995"/>
            <a:ext cx="11975073" cy="10216795"/>
            <a:chOff x="0" y="0"/>
            <a:chExt cx="15966764" cy="13622393"/>
          </a:xfrm>
        </p:grpSpPr>
        <p:sp>
          <p:nvSpPr>
            <p:cNvPr id="5" name="Freeform 5"/>
            <p:cNvSpPr/>
            <p:nvPr/>
          </p:nvSpPr>
          <p:spPr>
            <a:xfrm>
              <a:off x="7233519" y="5500475"/>
              <a:ext cx="8733245" cy="8121918"/>
            </a:xfrm>
            <a:custGeom>
              <a:avLst/>
              <a:gdLst/>
              <a:ahLst/>
              <a:cxnLst/>
              <a:rect l="l" t="t" r="r" b="b"/>
              <a:pathLst>
                <a:path w="8733245" h="8121918">
                  <a:moveTo>
                    <a:pt x="0" y="0"/>
                  </a:moveTo>
                  <a:lnTo>
                    <a:pt x="8733245" y="0"/>
                  </a:lnTo>
                  <a:lnTo>
                    <a:pt x="8733245" y="8121918"/>
                  </a:lnTo>
                  <a:lnTo>
                    <a:pt x="0" y="8121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AT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0" y="6752021"/>
              <a:ext cx="8544075" cy="1544151"/>
              <a:chOff x="0" y="0"/>
              <a:chExt cx="1548298" cy="27982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548298" cy="279820"/>
              </a:xfrm>
              <a:custGeom>
                <a:avLst/>
                <a:gdLst/>
                <a:ahLst/>
                <a:cxnLst/>
                <a:rect l="l" t="t" r="r" b="b"/>
                <a:pathLst>
                  <a:path w="1548298" h="279820">
                    <a:moveTo>
                      <a:pt x="0" y="0"/>
                    </a:moveTo>
                    <a:lnTo>
                      <a:pt x="1548298" y="0"/>
                    </a:lnTo>
                    <a:lnTo>
                      <a:pt x="1548298" y="279820"/>
                    </a:lnTo>
                    <a:lnTo>
                      <a:pt x="0" y="279820"/>
                    </a:lnTo>
                    <a:close/>
                  </a:path>
                </a:pathLst>
              </a:custGeom>
              <a:solidFill>
                <a:srgbClr val="5CD7AF"/>
              </a:solidFill>
            </p:spPr>
            <p:txBody>
              <a:bodyPr/>
              <a:lstStyle/>
              <a:p>
                <a:endParaRPr lang="de-AT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548298" cy="3179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-5400000">
              <a:off x="6567729" y="2523572"/>
              <a:ext cx="6594880" cy="1547737"/>
              <a:chOff x="0" y="0"/>
              <a:chExt cx="1195078" cy="28047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95078" cy="280470"/>
              </a:xfrm>
              <a:custGeom>
                <a:avLst/>
                <a:gdLst/>
                <a:ahLst/>
                <a:cxnLst/>
                <a:rect l="l" t="t" r="r" b="b"/>
                <a:pathLst>
                  <a:path w="1195078" h="280470">
                    <a:moveTo>
                      <a:pt x="0" y="0"/>
                    </a:moveTo>
                    <a:lnTo>
                      <a:pt x="1195078" y="0"/>
                    </a:lnTo>
                    <a:lnTo>
                      <a:pt x="1195078" y="280470"/>
                    </a:lnTo>
                    <a:lnTo>
                      <a:pt x="0" y="280470"/>
                    </a:lnTo>
                    <a:close/>
                  </a:path>
                </a:pathLst>
              </a:custGeom>
              <a:solidFill>
                <a:srgbClr val="5CD7AF"/>
              </a:solidFill>
            </p:spPr>
            <p:txBody>
              <a:bodyPr/>
              <a:lstStyle/>
              <a:p>
                <a:endParaRPr lang="de-AT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195078" cy="31857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2127953" y="8253512"/>
            <a:ext cx="2804938" cy="923080"/>
          </a:xfrm>
          <a:custGeom>
            <a:avLst/>
            <a:gdLst/>
            <a:ahLst/>
            <a:cxnLst/>
            <a:rect l="l" t="t" r="r" b="b"/>
            <a:pathLst>
              <a:path w="2804938" h="923080">
                <a:moveTo>
                  <a:pt x="0" y="0"/>
                </a:moveTo>
                <a:lnTo>
                  <a:pt x="2804938" y="0"/>
                </a:lnTo>
                <a:lnTo>
                  <a:pt x="2804938" y="923079"/>
                </a:lnTo>
                <a:lnTo>
                  <a:pt x="0" y="923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3" name="Freeform 13"/>
          <p:cNvSpPr/>
          <p:nvPr/>
        </p:nvSpPr>
        <p:spPr>
          <a:xfrm>
            <a:off x="2207401" y="1815898"/>
            <a:ext cx="2804938" cy="923080"/>
          </a:xfrm>
          <a:custGeom>
            <a:avLst/>
            <a:gdLst/>
            <a:ahLst/>
            <a:cxnLst/>
            <a:rect l="l" t="t" r="r" b="b"/>
            <a:pathLst>
              <a:path w="2804938" h="923080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4" name="Freeform 14"/>
          <p:cNvSpPr/>
          <p:nvPr/>
        </p:nvSpPr>
        <p:spPr>
          <a:xfrm>
            <a:off x="10415444" y="3439370"/>
            <a:ext cx="2804938" cy="923080"/>
          </a:xfrm>
          <a:custGeom>
            <a:avLst/>
            <a:gdLst/>
            <a:ahLst/>
            <a:cxnLst/>
            <a:rect l="l" t="t" r="r" b="b"/>
            <a:pathLst>
              <a:path w="2804938" h="923080">
                <a:moveTo>
                  <a:pt x="0" y="0"/>
                </a:moveTo>
                <a:lnTo>
                  <a:pt x="2804938" y="0"/>
                </a:lnTo>
                <a:lnTo>
                  <a:pt x="2804938" y="923080"/>
                </a:lnTo>
                <a:lnTo>
                  <a:pt x="0" y="923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5445845" y="1857275"/>
            <a:ext cx="301407" cy="263731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CFAC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079172" y="765696"/>
            <a:ext cx="3061394" cy="1973282"/>
            <a:chOff x="0" y="0"/>
            <a:chExt cx="806293" cy="5197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06293" cy="519712"/>
            </a:xfrm>
            <a:custGeom>
              <a:avLst/>
              <a:gdLst/>
              <a:ahLst/>
              <a:cxnLst/>
              <a:rect l="l" t="t" r="r" b="b"/>
              <a:pathLst>
                <a:path w="806293" h="519712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81779"/>
                  </a:lnTo>
                  <a:cubicBezTo>
                    <a:pt x="806293" y="502729"/>
                    <a:pt x="789310" y="519712"/>
                    <a:pt x="768360" y="519712"/>
                  </a:cubicBezTo>
                  <a:lnTo>
                    <a:pt x="37933" y="519712"/>
                  </a:lnTo>
                  <a:cubicBezTo>
                    <a:pt x="27873" y="519712"/>
                    <a:pt x="18224" y="515716"/>
                    <a:pt x="11110" y="508602"/>
                  </a:cubicBezTo>
                  <a:cubicBezTo>
                    <a:pt x="3997" y="501488"/>
                    <a:pt x="0" y="491839"/>
                    <a:pt x="0" y="481779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06293" cy="567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999725" y="7178918"/>
            <a:ext cx="3061394" cy="2499107"/>
            <a:chOff x="0" y="0"/>
            <a:chExt cx="806293" cy="65820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06293" cy="658201"/>
            </a:xfrm>
            <a:custGeom>
              <a:avLst/>
              <a:gdLst/>
              <a:ahLst/>
              <a:cxnLst/>
              <a:rect l="l" t="t" r="r" b="b"/>
              <a:pathLst>
                <a:path w="806293" h="658201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620268"/>
                  </a:lnTo>
                  <a:cubicBezTo>
                    <a:pt x="806293" y="641218"/>
                    <a:pt x="789310" y="658201"/>
                    <a:pt x="768360" y="658201"/>
                  </a:cubicBezTo>
                  <a:lnTo>
                    <a:pt x="37933" y="658201"/>
                  </a:lnTo>
                  <a:cubicBezTo>
                    <a:pt x="16983" y="658201"/>
                    <a:pt x="0" y="641218"/>
                    <a:pt x="0" y="620268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06293" cy="705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 flipV="1">
            <a:off x="3609870" y="3038380"/>
            <a:ext cx="0" cy="1273447"/>
          </a:xfrm>
          <a:prstGeom prst="line">
            <a:avLst/>
          </a:prstGeom>
          <a:ln w="38100" cap="flat">
            <a:solidFill>
              <a:srgbClr val="5CD7AF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de-AT"/>
          </a:p>
        </p:txBody>
      </p:sp>
      <p:sp>
        <p:nvSpPr>
          <p:cNvPr id="25" name="AutoShape 25"/>
          <p:cNvSpPr/>
          <p:nvPr/>
        </p:nvSpPr>
        <p:spPr>
          <a:xfrm flipH="1">
            <a:off x="5728414" y="7602621"/>
            <a:ext cx="575051" cy="417310"/>
          </a:xfrm>
          <a:prstGeom prst="line">
            <a:avLst/>
          </a:prstGeom>
          <a:ln w="38100" cap="flat">
            <a:solidFill>
              <a:srgbClr val="6D96CE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26" name="Group 26"/>
          <p:cNvGrpSpPr/>
          <p:nvPr/>
        </p:nvGrpSpPr>
        <p:grpSpPr>
          <a:xfrm rot="-10800000">
            <a:off x="13593433" y="3208238"/>
            <a:ext cx="301407" cy="263731"/>
            <a:chOff x="0" y="0"/>
            <a:chExt cx="812800" cy="711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9F7D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26760" y="2655904"/>
            <a:ext cx="3061394" cy="1760375"/>
            <a:chOff x="0" y="0"/>
            <a:chExt cx="806293" cy="46363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06293" cy="463638"/>
            </a:xfrm>
            <a:custGeom>
              <a:avLst/>
              <a:gdLst/>
              <a:ahLst/>
              <a:cxnLst/>
              <a:rect l="l" t="t" r="r" b="b"/>
              <a:pathLst>
                <a:path w="806293" h="463638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425705"/>
                  </a:lnTo>
                  <a:cubicBezTo>
                    <a:pt x="806293" y="446655"/>
                    <a:pt x="789310" y="463638"/>
                    <a:pt x="768360" y="463638"/>
                  </a:cubicBezTo>
                  <a:lnTo>
                    <a:pt x="37933" y="463638"/>
                  </a:lnTo>
                  <a:cubicBezTo>
                    <a:pt x="16983" y="463638"/>
                    <a:pt x="0" y="446655"/>
                    <a:pt x="0" y="425705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806293" cy="511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2" name="AutoShape 32"/>
          <p:cNvSpPr/>
          <p:nvPr/>
        </p:nvSpPr>
        <p:spPr>
          <a:xfrm flipV="1">
            <a:off x="9369510" y="3340104"/>
            <a:ext cx="672883" cy="647550"/>
          </a:xfrm>
          <a:prstGeom prst="line">
            <a:avLst/>
          </a:prstGeom>
          <a:ln w="38100" cap="flat">
            <a:solidFill>
              <a:srgbClr val="8FD0BB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33" name="Group 33"/>
          <p:cNvGrpSpPr/>
          <p:nvPr/>
        </p:nvGrpSpPr>
        <p:grpSpPr>
          <a:xfrm rot="-10800000">
            <a:off x="16425268" y="5623504"/>
            <a:ext cx="301407" cy="263731"/>
            <a:chOff x="0" y="0"/>
            <a:chExt cx="812800" cy="711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C6D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058596" y="4537472"/>
            <a:ext cx="3061394" cy="2897298"/>
            <a:chOff x="0" y="0"/>
            <a:chExt cx="806293" cy="76307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06293" cy="763074"/>
            </a:xfrm>
            <a:custGeom>
              <a:avLst/>
              <a:gdLst/>
              <a:ahLst/>
              <a:cxnLst/>
              <a:rect l="l" t="t" r="r" b="b"/>
              <a:pathLst>
                <a:path w="806293" h="763074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725141"/>
                  </a:lnTo>
                  <a:cubicBezTo>
                    <a:pt x="806293" y="746091"/>
                    <a:pt x="789310" y="763074"/>
                    <a:pt x="768360" y="763074"/>
                  </a:cubicBezTo>
                  <a:lnTo>
                    <a:pt x="37933" y="763074"/>
                  </a:lnTo>
                  <a:cubicBezTo>
                    <a:pt x="16983" y="763074"/>
                    <a:pt x="0" y="746091"/>
                    <a:pt x="0" y="725141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806293" cy="8106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9" name="AutoShape 39"/>
          <p:cNvSpPr/>
          <p:nvPr/>
        </p:nvSpPr>
        <p:spPr>
          <a:xfrm flipV="1">
            <a:off x="11941260" y="5755369"/>
            <a:ext cx="895579" cy="1217163"/>
          </a:xfrm>
          <a:prstGeom prst="line">
            <a:avLst/>
          </a:prstGeom>
          <a:ln w="38100" cap="flat">
            <a:solidFill>
              <a:srgbClr val="00C6DD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40" name="Group 40"/>
          <p:cNvGrpSpPr/>
          <p:nvPr/>
        </p:nvGrpSpPr>
        <p:grpSpPr>
          <a:xfrm rot="-5400000">
            <a:off x="15973953" y="8038769"/>
            <a:ext cx="301407" cy="263731"/>
            <a:chOff x="0" y="0"/>
            <a:chExt cx="812800" cy="711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AA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607281" y="7520494"/>
            <a:ext cx="3061394" cy="2538143"/>
            <a:chOff x="0" y="0"/>
            <a:chExt cx="806293" cy="66848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06293" cy="668482"/>
            </a:xfrm>
            <a:custGeom>
              <a:avLst/>
              <a:gdLst/>
              <a:ahLst/>
              <a:cxnLst/>
              <a:rect l="l" t="t" r="r" b="b"/>
              <a:pathLst>
                <a:path w="806293" h="668482">
                  <a:moveTo>
                    <a:pt x="37933" y="0"/>
                  </a:moveTo>
                  <a:lnTo>
                    <a:pt x="768360" y="0"/>
                  </a:lnTo>
                  <a:cubicBezTo>
                    <a:pt x="789310" y="0"/>
                    <a:pt x="806293" y="16983"/>
                    <a:pt x="806293" y="37933"/>
                  </a:cubicBezTo>
                  <a:lnTo>
                    <a:pt x="806293" y="630549"/>
                  </a:lnTo>
                  <a:cubicBezTo>
                    <a:pt x="806293" y="651499"/>
                    <a:pt x="789310" y="668482"/>
                    <a:pt x="768360" y="668482"/>
                  </a:cubicBezTo>
                  <a:lnTo>
                    <a:pt x="37933" y="668482"/>
                  </a:lnTo>
                  <a:cubicBezTo>
                    <a:pt x="16983" y="668482"/>
                    <a:pt x="0" y="651499"/>
                    <a:pt x="0" y="630549"/>
                  </a:cubicBezTo>
                  <a:lnTo>
                    <a:pt x="0" y="37933"/>
                  </a:lnTo>
                  <a:cubicBezTo>
                    <a:pt x="0" y="16983"/>
                    <a:pt x="16983" y="0"/>
                    <a:pt x="37933" y="0"/>
                  </a:cubicBezTo>
                  <a:close/>
                </a:path>
              </a:pathLst>
            </a:custGeom>
            <a:solidFill>
              <a:srgbClr val="EEF7F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806293" cy="716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6" name="AutoShape 46"/>
          <p:cNvSpPr/>
          <p:nvPr/>
        </p:nvSpPr>
        <p:spPr>
          <a:xfrm flipV="1">
            <a:off x="10226760" y="8170635"/>
            <a:ext cx="2138539" cy="650140"/>
          </a:xfrm>
          <a:prstGeom prst="line">
            <a:avLst/>
          </a:prstGeom>
          <a:ln w="38100" cap="flat">
            <a:solidFill>
              <a:srgbClr val="004AAD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47" name="Group 47"/>
          <p:cNvGrpSpPr/>
          <p:nvPr/>
        </p:nvGrpSpPr>
        <p:grpSpPr>
          <a:xfrm>
            <a:off x="2752620" y="3987654"/>
            <a:ext cx="1714500" cy="1714500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FACD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512260" y="3987654"/>
            <a:ext cx="1714500" cy="1714500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F7DE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226760" y="6115282"/>
            <a:ext cx="1714500" cy="1714500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6DD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512260" y="7963525"/>
            <a:ext cx="1714500" cy="1714500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303465" y="6745371"/>
            <a:ext cx="1714500" cy="1714500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96CE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2" name="Freeform 62"/>
          <p:cNvSpPr/>
          <p:nvPr/>
        </p:nvSpPr>
        <p:spPr>
          <a:xfrm>
            <a:off x="3327513" y="4416279"/>
            <a:ext cx="564713" cy="857250"/>
          </a:xfrm>
          <a:custGeom>
            <a:avLst/>
            <a:gdLst/>
            <a:ahLst/>
            <a:cxnLst/>
            <a:rect l="l" t="t" r="r" b="b"/>
            <a:pathLst>
              <a:path w="564713" h="857250">
                <a:moveTo>
                  <a:pt x="0" y="0"/>
                </a:moveTo>
                <a:lnTo>
                  <a:pt x="564713" y="0"/>
                </a:lnTo>
                <a:lnTo>
                  <a:pt x="564713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63" name="Freeform 63"/>
          <p:cNvSpPr/>
          <p:nvPr/>
        </p:nvSpPr>
        <p:spPr>
          <a:xfrm>
            <a:off x="8940885" y="4664346"/>
            <a:ext cx="857250" cy="361117"/>
          </a:xfrm>
          <a:custGeom>
            <a:avLst/>
            <a:gdLst/>
            <a:ahLst/>
            <a:cxnLst/>
            <a:rect l="l" t="t" r="r" b="b"/>
            <a:pathLst>
              <a:path w="857250" h="361117">
                <a:moveTo>
                  <a:pt x="0" y="0"/>
                </a:moveTo>
                <a:lnTo>
                  <a:pt x="857250" y="0"/>
                </a:lnTo>
                <a:lnTo>
                  <a:pt x="857250" y="361116"/>
                </a:lnTo>
                <a:lnTo>
                  <a:pt x="0" y="361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64" name="Freeform 64"/>
          <p:cNvSpPr/>
          <p:nvPr/>
        </p:nvSpPr>
        <p:spPr>
          <a:xfrm>
            <a:off x="10655385" y="6661243"/>
            <a:ext cx="857250" cy="622578"/>
          </a:xfrm>
          <a:custGeom>
            <a:avLst/>
            <a:gdLst/>
            <a:ahLst/>
            <a:cxnLst/>
            <a:rect l="l" t="t" r="r" b="b"/>
            <a:pathLst>
              <a:path w="857250" h="622578">
                <a:moveTo>
                  <a:pt x="0" y="0"/>
                </a:moveTo>
                <a:lnTo>
                  <a:pt x="857250" y="0"/>
                </a:lnTo>
                <a:lnTo>
                  <a:pt x="857250" y="622578"/>
                </a:lnTo>
                <a:lnTo>
                  <a:pt x="0" y="622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65" name="Freeform 65"/>
          <p:cNvSpPr/>
          <p:nvPr/>
        </p:nvSpPr>
        <p:spPr>
          <a:xfrm>
            <a:off x="9044827" y="8392150"/>
            <a:ext cx="649367" cy="857250"/>
          </a:xfrm>
          <a:custGeom>
            <a:avLst/>
            <a:gdLst/>
            <a:ahLst/>
            <a:cxnLst/>
            <a:rect l="l" t="t" r="r" b="b"/>
            <a:pathLst>
              <a:path w="649367" h="857250">
                <a:moveTo>
                  <a:pt x="0" y="0"/>
                </a:moveTo>
                <a:lnTo>
                  <a:pt x="649366" y="0"/>
                </a:lnTo>
                <a:lnTo>
                  <a:pt x="649366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66" name="Freeform 66"/>
          <p:cNvSpPr/>
          <p:nvPr/>
        </p:nvSpPr>
        <p:spPr>
          <a:xfrm>
            <a:off x="6732090" y="7244719"/>
            <a:ext cx="857250" cy="715804"/>
          </a:xfrm>
          <a:custGeom>
            <a:avLst/>
            <a:gdLst/>
            <a:ahLst/>
            <a:cxnLst/>
            <a:rect l="l" t="t" r="r" b="b"/>
            <a:pathLst>
              <a:path w="857250" h="715804">
                <a:moveTo>
                  <a:pt x="0" y="0"/>
                </a:moveTo>
                <a:lnTo>
                  <a:pt x="857250" y="0"/>
                </a:lnTo>
                <a:lnTo>
                  <a:pt x="857250" y="715804"/>
                </a:lnTo>
                <a:lnTo>
                  <a:pt x="0" y="715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67" name="Freeform 67"/>
          <p:cNvSpPr/>
          <p:nvPr/>
        </p:nvSpPr>
        <p:spPr>
          <a:xfrm rot="4691186">
            <a:off x="13780179" y="716856"/>
            <a:ext cx="8840570" cy="1790215"/>
          </a:xfrm>
          <a:custGeom>
            <a:avLst/>
            <a:gdLst/>
            <a:ahLst/>
            <a:cxnLst/>
            <a:rect l="l" t="t" r="r" b="b"/>
            <a:pathLst>
              <a:path w="8840570" h="1790215">
                <a:moveTo>
                  <a:pt x="0" y="0"/>
                </a:moveTo>
                <a:lnTo>
                  <a:pt x="8840570" y="0"/>
                </a:lnTo>
                <a:lnTo>
                  <a:pt x="8840570" y="1790216"/>
                </a:lnTo>
                <a:lnTo>
                  <a:pt x="0" y="17902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68" name="Freeform 68"/>
          <p:cNvSpPr/>
          <p:nvPr/>
        </p:nvSpPr>
        <p:spPr>
          <a:xfrm rot="2700000" flipH="1" flipV="1">
            <a:off x="-5692944" y="7868906"/>
            <a:ext cx="10982096" cy="2223874"/>
          </a:xfrm>
          <a:custGeom>
            <a:avLst/>
            <a:gdLst/>
            <a:ahLst/>
            <a:cxnLst/>
            <a:rect l="l" t="t" r="r" b="b"/>
            <a:pathLst>
              <a:path w="10982096" h="2223874">
                <a:moveTo>
                  <a:pt x="10982096" y="2223874"/>
                </a:moveTo>
                <a:lnTo>
                  <a:pt x="0" y="2223874"/>
                </a:lnTo>
                <a:lnTo>
                  <a:pt x="0" y="0"/>
                </a:lnTo>
                <a:lnTo>
                  <a:pt x="10982096" y="0"/>
                </a:lnTo>
                <a:lnTo>
                  <a:pt x="10982096" y="22238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69" name="Freeform 69"/>
          <p:cNvSpPr/>
          <p:nvPr/>
        </p:nvSpPr>
        <p:spPr>
          <a:xfrm>
            <a:off x="13370457" y="548054"/>
            <a:ext cx="1529786" cy="1507775"/>
          </a:xfrm>
          <a:custGeom>
            <a:avLst/>
            <a:gdLst/>
            <a:ahLst/>
            <a:cxnLst/>
            <a:rect l="l" t="t" r="r" b="b"/>
            <a:pathLst>
              <a:path w="1529786" h="1507775">
                <a:moveTo>
                  <a:pt x="0" y="0"/>
                </a:moveTo>
                <a:lnTo>
                  <a:pt x="1529786" y="0"/>
                </a:lnTo>
                <a:lnTo>
                  <a:pt x="1529786" y="1507775"/>
                </a:lnTo>
                <a:lnTo>
                  <a:pt x="0" y="1507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8302" t="-27818" r="-119260" b="-45709"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70" name="TextBox 70"/>
          <p:cNvSpPr txBox="1"/>
          <p:nvPr/>
        </p:nvSpPr>
        <p:spPr>
          <a:xfrm>
            <a:off x="8471266" y="1048084"/>
            <a:ext cx="7255784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1" dirty="0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JOURNEY PROCESS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471266" y="1650064"/>
            <a:ext cx="917466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From first contact to loyal customer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229283" y="7461756"/>
            <a:ext cx="26022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Deep Connection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298398" y="1472677"/>
            <a:ext cx="59630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3417411" y="2804378"/>
            <a:ext cx="59630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6256523" y="5225904"/>
            <a:ext cx="59630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6237473" y="7963942"/>
            <a:ext cx="59630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132113" y="7813239"/>
            <a:ext cx="596301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6D96CE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308731" y="969531"/>
            <a:ext cx="2602277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 Touchpoints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308731" y="1615778"/>
            <a:ext cx="2602277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1" lvl="1" indent="-151130" algn="ctr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Social Media (z. B. „Turn your steps into a pet experience“)</a:t>
            </a:r>
          </a:p>
          <a:p>
            <a:pPr marL="302261" lvl="1" indent="-151130" algn="ctr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App Store Preview</a:t>
            </a:r>
          </a:p>
          <a:p>
            <a:pPr marL="302261" lvl="1" indent="-151130" algn="ctr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Website (pawlyai.app)</a:t>
            </a:r>
          </a:p>
          <a:p>
            <a:pPr algn="l">
              <a:lnSpc>
                <a:spcPts val="1680"/>
              </a:lnSpc>
            </a:pPr>
            <a:endParaRPr lang="en-US" sz="1400">
              <a:solidFill>
                <a:srgbClr val="3D5B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2229283" y="7888282"/>
            <a:ext cx="2602277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Emotion: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Bindung („mein Buddy“)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Stolz (Level, Fortschritt)</a:t>
            </a:r>
          </a:p>
          <a:p>
            <a:pPr algn="l">
              <a:lnSpc>
                <a:spcPts val="1680"/>
              </a:lnSpc>
            </a:pPr>
            <a:endParaRPr lang="en-US" sz="1400">
              <a:solidFill>
                <a:srgbClr val="3D5B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Retention-Mechaniken: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Level-System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tägliche Routinen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steigende Komplexität</a:t>
            </a:r>
          </a:p>
          <a:p>
            <a:pPr algn="l">
              <a:lnSpc>
                <a:spcPts val="1680"/>
              </a:lnSpc>
            </a:pPr>
            <a:endParaRPr lang="en-US" sz="1400">
              <a:solidFill>
                <a:srgbClr val="3D5B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1680"/>
              </a:lnSpc>
            </a:pPr>
            <a:endParaRPr lang="en-US" sz="1400">
              <a:solidFill>
                <a:srgbClr val="3D5B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10456319" y="2758983"/>
            <a:ext cx="26022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Engage Channel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456319" y="3205999"/>
            <a:ext cx="260227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Sofortige Mini-Interaktion (Pet reagiert direkt)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Key Moment: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 → “Wow-Effekt” durch AR + Bewegung des Pets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3288154" y="4619876"/>
            <a:ext cx="26022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Support Actions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3288154" y="5023802"/>
            <a:ext cx="2602277" cy="251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Gamification: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Level-Up (Beginner → Explorer)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XP durch Aktivitäten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Fortschritt sichtbar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Emotion: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Motivation („Ich gehe mehr spazieren“)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Verantwortung („Ich kümmere mich um mein Pet“)</a:t>
            </a:r>
          </a:p>
          <a:p>
            <a:pPr algn="l">
              <a:lnSpc>
                <a:spcPts val="1680"/>
              </a:lnSpc>
            </a:pPr>
            <a:endParaRPr lang="en-US" sz="1400">
              <a:solidFill>
                <a:srgbClr val="3D5B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2836839" y="7726269"/>
            <a:ext cx="26022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D5B84"/>
                </a:solidFill>
                <a:latin typeface="DM Sans Bold"/>
                <a:ea typeface="DM Sans Bold"/>
                <a:cs typeface="DM Sans Bold"/>
                <a:sym typeface="DM Sans Bold"/>
              </a:rPr>
              <a:t>Deliver Experience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2836839" y="8148275"/>
            <a:ext cx="2602277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Value: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Bewegung wird sinnvoll</a:t>
            </a:r>
          </a:p>
          <a:p>
            <a:pPr marL="302261" lvl="1" indent="-151130" algn="l">
              <a:lnSpc>
                <a:spcPts val="1680"/>
              </a:lnSpc>
              <a:buFont typeface="Arial"/>
              <a:buChar char="•"/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Struktur im Alltag</a:t>
            </a:r>
          </a:p>
          <a:p>
            <a:pPr algn="l">
              <a:lnSpc>
                <a:spcPts val="1680"/>
              </a:lnSpc>
            </a:pPr>
            <a:endParaRPr lang="en-US" sz="1400">
              <a:solidFill>
                <a:srgbClr val="3D5B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Psychologischer Effekt: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D5B84"/>
                </a:solidFill>
                <a:latin typeface="DM Sans"/>
                <a:ea typeface="DM Sans"/>
                <a:cs typeface="DM Sans"/>
                <a:sym typeface="DM Sans"/>
              </a:rPr>
              <a:t> → Extrinsische Motivation wird intrinsisch</a:t>
            </a:r>
          </a:p>
          <a:p>
            <a:pPr algn="l">
              <a:lnSpc>
                <a:spcPts val="1680"/>
              </a:lnSpc>
            </a:pPr>
            <a:endParaRPr lang="en-US" sz="1400">
              <a:solidFill>
                <a:srgbClr val="3D5B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/>
      <p:bldP spid="7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Benutzerdefiniert</PresentationFormat>
  <Paragraphs>80</Paragraphs>
  <Slides>2</Slides>
  <Notes>1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DM Sans</vt:lpstr>
      <vt:lpstr>Aptos</vt:lpstr>
      <vt:lpstr>DM Sans Bold</vt:lpstr>
      <vt:lpstr>Calibri</vt:lpstr>
      <vt:lpstr>Office Theme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CustomerJourney Overview: Pawly</dc:title>
  <dc:creator>Yaminia Pagoáda</dc:creator>
  <cp:lastModifiedBy>Pagoada Yaminia - s2410892023</cp:lastModifiedBy>
  <cp:revision>4</cp:revision>
  <dcterms:created xsi:type="dcterms:W3CDTF">2006-08-16T00:00:00Z</dcterms:created>
  <dcterms:modified xsi:type="dcterms:W3CDTF">2026-04-30T13:31:30Z</dcterms:modified>
  <dc:identifier>DAHIVDZ6eg8</dc:identifier>
</cp:coreProperties>
</file>